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Corticosteroid Regimens for Sepsis and Septic Shock: A Systematic Review and Network Meta-Analysis of Randomized Controlled Trials</a:t>
            </a:r>
          </a:p>
          <a:p>
            <a:pPr>
              <a:spcBef>
                <a:spcPts val="1400"/>
              </a:spcBef>
              <a:defRPr sz="2000">
                <a:solidFill>
                  <a:srgbClr val="D97706"/>
                </a:solidFill>
                <a:latin typeface="Arial"/>
              </a:defRPr>
            </a:pPr>
            <a:r>
              <a:t>PRISMA 2020 Systematic Review &amp; Network Meta-Analysis</a:t>
            </a:r>
          </a:p>
          <a:p>
            <a:pPr>
              <a:spcBef>
                <a:spcPts val="2400"/>
              </a:spcBef>
              <a:defRPr sz="1400">
                <a:solidFill>
                  <a:srgbClr val="64748B"/>
                </a:solidFill>
                <a:latin typeface="Arial"/>
              </a:defRPr>
            </a:pPr>
            <a:r>
              <a:t>Sci-NMA Autonomous Research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Clinical Background &amp; PICO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600">
                <a:solidFill>
                  <a:srgbClr val="0F172A"/>
                </a:solidFill>
                <a:latin typeface="Arial"/>
              </a:defRPr>
            </a:pPr>
            <a:r>
              <a:t>•  Septic shock remains a major ICU mortality driver (&gt; 30-40%).</a:t>
            </a:r>
          </a:p>
          <a:p>
            <a:pPr>
              <a:spcBef>
                <a:spcPts val="1000"/>
              </a:spcBef>
              <a:defRPr sz="1600">
                <a:solidFill>
                  <a:srgbClr val="0F172A"/>
                </a:solidFill>
                <a:latin typeface="Arial"/>
              </a:defRPr>
            </a:pPr>
            <a:r>
              <a:t>•  Relative efficacy of corticosteroid regimens has been debated across landmark trials (ADRENAL, APROCCHSS).</a:t>
            </a:r>
          </a:p>
          <a:p>
            <a:pPr>
              <a:spcBef>
                <a:spcPts val="1000"/>
              </a:spcBef>
              <a:defRPr sz="1600">
                <a:solidFill>
                  <a:srgbClr val="0F172A"/>
                </a:solidFill>
                <a:latin typeface="Arial"/>
              </a:defRPr>
            </a:pPr>
            <a:r>
              <a:t>•  Objective: Synthesize all randomized clinical trials using pairwise &amp; network meta-analysis.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PRISMA 2020 Study Flow &amp; Inclusion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600">
                <a:solidFill>
                  <a:srgbClr val="0F172A"/>
                </a:solidFill>
                <a:latin typeface="Arial"/>
              </a:defRPr>
            </a:pPr>
            <a:r>
              <a:t>•  Identified 1162 records across 4 core databases.</a:t>
            </a:r>
          </a:p>
          <a:p>
            <a:pPr>
              <a:spcBef>
                <a:spcPts val="1000"/>
              </a:spcBef>
              <a:defRPr sz="1600">
                <a:solidFill>
                  <a:srgbClr val="0F172A"/>
                </a:solidFill>
                <a:latin typeface="Arial"/>
              </a:defRPr>
            </a:pPr>
            <a:r>
              <a:t>•  Included 29 randomized trials after multi-stage screening.</a:t>
            </a:r>
          </a:p>
          <a:p>
            <a:pPr>
              <a:spcBef>
                <a:spcPts val="1000"/>
              </a:spcBef>
              <a:defRPr sz="1600">
                <a:solidFill>
                  <a:srgbClr val="0F172A"/>
                </a:solidFill>
                <a:latin typeface="Arial"/>
              </a:defRPr>
            </a:pPr>
            <a:r>
              <a:t>•  Strict flow conservation achieved with zero mathematical discrepancy (L ≡ 0).</a:t>
            </a:r>
          </a:p>
        </p:txBody>
      </p:sp>
      <p:pic>
        <p:nvPicPr>
          <p:cNvPr id="4" name="Picture 3" descr="Figure1_PRISMA_2020_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120640" cy="59812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Primary Outcome: 28-Day Mortality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600">
                <a:solidFill>
                  <a:srgbClr val="0F172A"/>
                </a:solidFill>
                <a:latin typeface="Arial"/>
              </a:defRPr>
            </a:pPr>
            <a:r>
              <a:t>•  Corticosteroids significantly reduce 28-day mortality (OR 0.77, 95% CI [0.69, 0.87]).</a:t>
            </a:r>
          </a:p>
          <a:p>
            <a:pPr>
              <a:spcBef>
                <a:spcPts val="1000"/>
              </a:spcBef>
              <a:defRPr sz="1600">
                <a:solidFill>
                  <a:srgbClr val="0F172A"/>
                </a:solidFill>
                <a:latin typeface="Arial"/>
              </a:defRPr>
            </a:pPr>
            <a:r>
              <a:t>•  Heterogeneity across trials: I² = 12.2%, τ² = 0.009.</a:t>
            </a:r>
          </a:p>
          <a:p>
            <a:pPr>
              <a:spcBef>
                <a:spcPts val="1000"/>
              </a:spcBef>
              <a:defRPr sz="1600">
                <a:solidFill>
                  <a:srgbClr val="0F172A"/>
                </a:solidFill>
                <a:latin typeface="Arial"/>
              </a:defRPr>
            </a:pPr>
            <a:r>
              <a:t>•  Combination of hydrocortisone and fludrocortisone achieved highest SUCRA ranking.</a:t>
            </a:r>
          </a:p>
        </p:txBody>
      </p:sp>
      <p:pic>
        <p:nvPicPr>
          <p:cNvPr id="4" name="Picture 3" descr="Figure2_Forest_Plot_Mort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120640" cy="74930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Clinical Implications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600">
                <a:solidFill>
                  <a:srgbClr val="0F172A"/>
                </a:solidFill>
                <a:latin typeface="Arial"/>
              </a:defRPr>
            </a:pPr>
            <a:r>
              <a:t>•  Supportive evidence for adjunctive corticosteroids in refractory septic shock.</a:t>
            </a:r>
          </a:p>
          <a:p>
            <a:pPr>
              <a:spcBef>
                <a:spcPts val="1000"/>
              </a:spcBef>
              <a:defRPr sz="1600">
                <a:solidFill>
                  <a:srgbClr val="0F172A"/>
                </a:solidFill>
                <a:latin typeface="Arial"/>
              </a:defRPr>
            </a:pPr>
            <a:r>
              <a:t>•  Hydrocortisone + fludrocortisone regimen provides maximal mortality benefit.</a:t>
            </a:r>
          </a:p>
          <a:p>
            <a:pPr>
              <a:spcBef>
                <a:spcPts val="1000"/>
              </a:spcBef>
              <a:defRPr sz="1600">
                <a:solidFill>
                  <a:srgbClr val="0F172A"/>
                </a:solidFill>
                <a:latin typeface="Arial"/>
              </a:defRPr>
            </a:pPr>
            <a:r>
              <a:t>•  All artifacts published in 6 open, reproducible, and verifiable formats.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